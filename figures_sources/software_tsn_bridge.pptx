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25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138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4F58656-7408-402A-9704-732267C0B65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C2EF5930-33AE-4BEC-9200-08B3D4D6FCF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36F369A-5CC9-485E-AD05-C9D2B264F1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ABAAC7-F561-4149-9C4E-7F5880CEDA2A}" type="datetimeFigureOut">
              <a:rPr lang="de-DE" smtClean="0"/>
              <a:t>04.11.2024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BF73CD8-A104-4490-ADB6-C4C48DFB89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4E3EF6E-6CDC-4FCA-8E03-19E2EBFB2D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2D41EA-E2AC-42EA-89E7-9FA34E31330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429659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52B1D91-62DA-4B7A-A4A0-69ACC0646C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E949FDE-D5C8-4B30-88FA-7E1964A968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C02FE26-F149-4E88-B990-8A3AACF05B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ABAAC7-F561-4149-9C4E-7F5880CEDA2A}" type="datetimeFigureOut">
              <a:rPr lang="de-DE" smtClean="0"/>
              <a:t>04.11.2024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113FE1C-55E8-4753-BC81-00B5AD8A55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E1C469B-23A0-4ADC-9223-92B26E298E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2D41EA-E2AC-42EA-89E7-9FA34E31330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834444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7212FD3-C241-4638-A0D1-232E32A20B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C9EA8E33-719D-491D-9FFA-1763E6C8AB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866000B-9C06-40DC-A8D9-099478E14C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ABAAC7-F561-4149-9C4E-7F5880CEDA2A}" type="datetimeFigureOut">
              <a:rPr lang="de-DE" smtClean="0"/>
              <a:t>04.11.2024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3C0227E-AC0F-4AF2-86AD-92945D079E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321D348-CBE0-4B11-AA21-5B2884C13E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2D41EA-E2AC-42EA-89E7-9FA34E31330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808802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F777E71-AAA8-408A-B551-DE02CD54E5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AAA6045-1D1C-417A-8B2B-0E7DB6708FE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B6DD55FF-9262-40EB-9DEB-1B0C244DA51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5D0AB548-DA9A-4BAA-9B84-749025A7EF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ABAAC7-F561-4149-9C4E-7F5880CEDA2A}" type="datetimeFigureOut">
              <a:rPr lang="de-DE" smtClean="0"/>
              <a:t>04.11.2024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9D1A7D32-B56F-40E8-A18E-84CF5FE1F5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E42B8F14-7447-43E2-859D-DBCA16D2F7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2D41EA-E2AC-42EA-89E7-9FA34E31330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37758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C736CDC-B17C-4AA2-B22E-DDF5BA057F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895ECA15-2E9B-43B9-AE40-531D510BD5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0A607857-E7F1-45DF-829F-19612B4D32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BC5071CE-595B-4F02-B4AC-154FD5065A9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B0A2F6CA-6688-4735-A77F-64720DDB964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E2A8F2A7-FCF8-484D-8B9B-0B62E91787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ABAAC7-F561-4149-9C4E-7F5880CEDA2A}" type="datetimeFigureOut">
              <a:rPr lang="de-DE" smtClean="0"/>
              <a:t>04.11.2024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0DEB5F42-D6C2-4E99-8F43-DD7B945DC9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51C73BC3-32DD-4D4E-878A-87AECF482C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2D41EA-E2AC-42EA-89E7-9FA34E31330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799689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A853A54-281F-476E-B16B-11D0100791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1F9D0FBA-DE52-4637-8A0C-0AA466C717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ABAAC7-F561-4149-9C4E-7F5880CEDA2A}" type="datetimeFigureOut">
              <a:rPr lang="de-DE" smtClean="0"/>
              <a:t>04.11.2024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6E10BDF8-186F-46DE-A256-F9B0385DAA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84CBF18E-E738-4E91-9B31-21FBE5FE28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2D41EA-E2AC-42EA-89E7-9FA34E31330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246014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2C11B997-03A1-4F10-BD13-F71C15446C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ABAAC7-F561-4149-9C4E-7F5880CEDA2A}" type="datetimeFigureOut">
              <a:rPr lang="de-DE" smtClean="0"/>
              <a:t>04.11.2024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3D76746B-B083-4F03-B318-D3D029F5C0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7FD743B0-9196-46B4-9BBD-130E2AFA5C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2D41EA-E2AC-42EA-89E7-9FA34E31330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745028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EB935B2-F123-45FC-AFA8-17283EB445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D70AA6F-A340-44F1-A4DF-1F4F02021E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835149EC-38F2-4CD3-96EE-503784A187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3D558CD3-7BC6-4E27-B840-FA961F8BD6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ABAAC7-F561-4149-9C4E-7F5880CEDA2A}" type="datetimeFigureOut">
              <a:rPr lang="de-DE" smtClean="0"/>
              <a:t>04.11.2024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6F5F08B4-5D65-4581-9E4B-BB8A92C957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696DB44C-8ED6-4F08-85B5-A75AE43B85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2D41EA-E2AC-42EA-89E7-9FA34E31330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528754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D1AA7B9-C780-4577-8D5B-39C444ACF3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C51E09C3-3F88-44BB-8AEE-A6D55EAF120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5B0FA0DF-B13E-43D7-B479-881305F53D0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DECF24C8-F267-4C1A-B2B5-827C60866D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ABAAC7-F561-4149-9C4E-7F5880CEDA2A}" type="datetimeFigureOut">
              <a:rPr lang="de-DE" smtClean="0"/>
              <a:t>04.11.2024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11B8258C-F241-4488-BA4A-D0365F65F8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5ACA77B5-8CBD-4691-89BF-292FCF1164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2D41EA-E2AC-42EA-89E7-9FA34E31330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955004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D2EA86A-508D-41FE-A390-C03F779F5F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F8589148-6E54-4414-8655-16A01CF52B0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F337D2C-DC37-4E6F-B099-16A5744349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ABAAC7-F561-4149-9C4E-7F5880CEDA2A}" type="datetimeFigureOut">
              <a:rPr lang="de-DE" smtClean="0"/>
              <a:t>04.11.2024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E7ACFC-EE7B-4EEB-B18A-705FB2832C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81B4AD3-EFF3-42CF-AD4B-39AD5EE3F7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2D41EA-E2AC-42EA-89E7-9FA34E31330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031443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622B4EE9-C9BC-4B9C-B8F4-0B9789B3352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ABABF595-F400-465A-B6CA-7850C7168B9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FE0773E-5D9C-4397-80D8-04AD94A793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ABAAC7-F561-4149-9C4E-7F5880CEDA2A}" type="datetimeFigureOut">
              <a:rPr lang="de-DE" smtClean="0"/>
              <a:t>04.11.2024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2EF8207-946C-454F-BF3E-FC50B19E70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F265C4E-F3D8-4DFC-AB73-483E028017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2D41EA-E2AC-42EA-89E7-9FA34E31330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223223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4E05F97B-CCD8-447B-A4C0-EC1DDBBF18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925E0DFD-562D-484B-8473-742D68C093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7B8F230-43B8-46BD-A371-9EDD53B5D73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ABAAC7-F561-4149-9C4E-7F5880CEDA2A}" type="datetimeFigureOut">
              <a:rPr lang="de-DE" smtClean="0"/>
              <a:t>04.11.2024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AF2FA26-AB42-4560-82A8-D8F30B1660D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54069B1-7407-4A8C-BA59-800845CB731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2D41EA-E2AC-42EA-89E7-9FA34E31330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721506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3">
            <a:extLst>
              <a:ext uri="{FF2B5EF4-FFF2-40B4-BE49-F238E27FC236}">
                <a16:creationId xmlns:a16="http://schemas.microsoft.com/office/drawing/2014/main" id="{96D92E1D-97C1-46DE-B06B-19BC58231812}"/>
              </a:ext>
            </a:extLst>
          </p:cNvPr>
          <p:cNvSpPr/>
          <p:nvPr/>
        </p:nvSpPr>
        <p:spPr>
          <a:xfrm>
            <a:off x="7188214" y="1864392"/>
            <a:ext cx="2540669" cy="266311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sz="1400" dirty="0"/>
              <a:t>Edge Cloud Server</a:t>
            </a:r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D35F7A60-F83D-47C5-93CC-6C1057F86192}"/>
              </a:ext>
            </a:extLst>
          </p:cNvPr>
          <p:cNvSpPr/>
          <p:nvPr/>
        </p:nvSpPr>
        <p:spPr>
          <a:xfrm>
            <a:off x="7277616" y="3730329"/>
            <a:ext cx="2335942" cy="469557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Software TSN Bridge</a:t>
            </a: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AF4E5709-06C0-4709-9C19-1171CBEFBD7D}"/>
              </a:ext>
            </a:extLst>
          </p:cNvPr>
          <p:cNvSpPr/>
          <p:nvPr/>
        </p:nvSpPr>
        <p:spPr>
          <a:xfrm>
            <a:off x="7277615" y="2259029"/>
            <a:ext cx="1447084" cy="1099688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sz="1200"/>
              <a:t>Virtual Machine  /</a:t>
            </a:r>
            <a:br>
              <a:rPr lang="en-US" sz="1200"/>
            </a:br>
            <a:r>
              <a:rPr lang="en-US" sz="1200"/>
              <a:t>Container</a:t>
            </a:r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71287B7A-F671-499A-8C63-313EF92019ED}"/>
              </a:ext>
            </a:extLst>
          </p:cNvPr>
          <p:cNvSpPr/>
          <p:nvPr/>
        </p:nvSpPr>
        <p:spPr>
          <a:xfrm>
            <a:off x="7714067" y="4376019"/>
            <a:ext cx="1463039" cy="344449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Physical </a:t>
            </a:r>
            <a:br>
              <a:rPr lang="en-US" sz="1200" dirty="0"/>
            </a:br>
            <a:r>
              <a:rPr lang="en-US" sz="1200" dirty="0"/>
              <a:t>Network Interface</a:t>
            </a:r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E9AB6F4B-A521-4C3C-930A-FB56C85B9933}"/>
              </a:ext>
            </a:extLst>
          </p:cNvPr>
          <p:cNvSpPr/>
          <p:nvPr/>
        </p:nvSpPr>
        <p:spPr>
          <a:xfrm>
            <a:off x="7277615" y="3231412"/>
            <a:ext cx="1447084" cy="344449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Virtual</a:t>
            </a:r>
            <a:br>
              <a:rPr lang="en-US" sz="1200" dirty="0"/>
            </a:br>
            <a:r>
              <a:rPr lang="en-US" sz="1200" dirty="0"/>
              <a:t>Network Interface</a:t>
            </a:r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42BC97F0-AB84-48C1-AC4B-C179CFD0DAA1}"/>
              </a:ext>
            </a:extLst>
          </p:cNvPr>
          <p:cNvSpPr/>
          <p:nvPr/>
        </p:nvSpPr>
        <p:spPr>
          <a:xfrm>
            <a:off x="7486205" y="2757188"/>
            <a:ext cx="1029903" cy="34444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/>
              <a:t>Controller</a:t>
            </a:r>
          </a:p>
        </p:txBody>
      </p:sp>
      <p:cxnSp>
        <p:nvCxnSpPr>
          <p:cNvPr id="13" name="Gerader Verbinder 12">
            <a:extLst>
              <a:ext uri="{FF2B5EF4-FFF2-40B4-BE49-F238E27FC236}">
                <a16:creationId xmlns:a16="http://schemas.microsoft.com/office/drawing/2014/main" id="{A19A774E-B1A7-4A5E-A7A7-73AC2CD0718A}"/>
              </a:ext>
            </a:extLst>
          </p:cNvPr>
          <p:cNvCxnSpPr>
            <a:stCxn id="9" idx="2"/>
          </p:cNvCxnSpPr>
          <p:nvPr/>
        </p:nvCxnSpPr>
        <p:spPr>
          <a:xfrm flipH="1">
            <a:off x="8001156" y="3575861"/>
            <a:ext cx="1" cy="154468"/>
          </a:xfrm>
          <a:prstGeom prst="line">
            <a:avLst/>
          </a:prstGeom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Gerader Verbinder 16">
            <a:extLst>
              <a:ext uri="{FF2B5EF4-FFF2-40B4-BE49-F238E27FC236}">
                <a16:creationId xmlns:a16="http://schemas.microsoft.com/office/drawing/2014/main" id="{B62D8216-F009-48E5-A6F3-1CAAB029A7BD}"/>
              </a:ext>
            </a:extLst>
          </p:cNvPr>
          <p:cNvCxnSpPr>
            <a:cxnSpLocks/>
            <a:stCxn id="5" idx="2"/>
            <a:endCxn id="8" idx="0"/>
          </p:cNvCxnSpPr>
          <p:nvPr/>
        </p:nvCxnSpPr>
        <p:spPr>
          <a:xfrm>
            <a:off x="8445587" y="4199886"/>
            <a:ext cx="0" cy="176133"/>
          </a:xfrm>
          <a:prstGeom prst="line">
            <a:avLst/>
          </a:prstGeom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hteck 19">
            <a:extLst>
              <a:ext uri="{FF2B5EF4-FFF2-40B4-BE49-F238E27FC236}">
                <a16:creationId xmlns:a16="http://schemas.microsoft.com/office/drawing/2014/main" id="{F0E5256A-6923-41F1-AFE2-5B4A7166286A}"/>
              </a:ext>
            </a:extLst>
          </p:cNvPr>
          <p:cNvSpPr/>
          <p:nvPr/>
        </p:nvSpPr>
        <p:spPr>
          <a:xfrm>
            <a:off x="7851058" y="4967574"/>
            <a:ext cx="1189056" cy="601528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algn="ctr"/>
            <a:r>
              <a:rPr lang="en-US" sz="1400" dirty="0"/>
              <a:t>Physical TSN Bridge</a:t>
            </a:r>
          </a:p>
        </p:txBody>
      </p:sp>
      <p:sp>
        <p:nvSpPr>
          <p:cNvPr id="21" name="Rechteck 20">
            <a:extLst>
              <a:ext uri="{FF2B5EF4-FFF2-40B4-BE49-F238E27FC236}">
                <a16:creationId xmlns:a16="http://schemas.microsoft.com/office/drawing/2014/main" id="{5FA10DE3-FE0E-4273-B8F1-C6B0DA7B13F0}"/>
              </a:ext>
            </a:extLst>
          </p:cNvPr>
          <p:cNvSpPr/>
          <p:nvPr/>
        </p:nvSpPr>
        <p:spPr>
          <a:xfrm>
            <a:off x="5582187" y="4967574"/>
            <a:ext cx="1189056" cy="601528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algn="ctr"/>
            <a:r>
              <a:rPr lang="en-US" sz="1400" dirty="0"/>
              <a:t>Physical TSN Bridge</a:t>
            </a:r>
          </a:p>
        </p:txBody>
      </p:sp>
      <p:sp>
        <p:nvSpPr>
          <p:cNvPr id="22" name="Rechteck 21">
            <a:extLst>
              <a:ext uri="{FF2B5EF4-FFF2-40B4-BE49-F238E27FC236}">
                <a16:creationId xmlns:a16="http://schemas.microsoft.com/office/drawing/2014/main" id="{E9559701-D4E3-42B6-A85A-77A043C8EEF2}"/>
              </a:ext>
            </a:extLst>
          </p:cNvPr>
          <p:cNvSpPr/>
          <p:nvPr/>
        </p:nvSpPr>
        <p:spPr>
          <a:xfrm>
            <a:off x="3313316" y="4967574"/>
            <a:ext cx="1189056" cy="601528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algn="ctr"/>
            <a:r>
              <a:rPr lang="en-US" sz="1400" dirty="0"/>
              <a:t>Physical TSN Bridge</a:t>
            </a:r>
          </a:p>
        </p:txBody>
      </p:sp>
      <p:cxnSp>
        <p:nvCxnSpPr>
          <p:cNvPr id="23" name="Gerader Verbinder 22">
            <a:extLst>
              <a:ext uri="{FF2B5EF4-FFF2-40B4-BE49-F238E27FC236}">
                <a16:creationId xmlns:a16="http://schemas.microsoft.com/office/drawing/2014/main" id="{09B0C305-64ED-4095-87DE-C28AA855B5A4}"/>
              </a:ext>
            </a:extLst>
          </p:cNvPr>
          <p:cNvCxnSpPr>
            <a:cxnSpLocks/>
            <a:stCxn id="8" idx="2"/>
            <a:endCxn id="20" idx="0"/>
          </p:cNvCxnSpPr>
          <p:nvPr/>
        </p:nvCxnSpPr>
        <p:spPr>
          <a:xfrm flipH="1">
            <a:off x="8445586" y="4720468"/>
            <a:ext cx="1" cy="247106"/>
          </a:xfrm>
          <a:prstGeom prst="line">
            <a:avLst/>
          </a:prstGeom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Gerader Verbinder 25">
            <a:extLst>
              <a:ext uri="{FF2B5EF4-FFF2-40B4-BE49-F238E27FC236}">
                <a16:creationId xmlns:a16="http://schemas.microsoft.com/office/drawing/2014/main" id="{D84E44A0-B4E0-422C-AE04-58A79B47CC63}"/>
              </a:ext>
            </a:extLst>
          </p:cNvPr>
          <p:cNvCxnSpPr>
            <a:cxnSpLocks/>
            <a:stCxn id="21" idx="3"/>
            <a:endCxn id="20" idx="1"/>
          </p:cNvCxnSpPr>
          <p:nvPr/>
        </p:nvCxnSpPr>
        <p:spPr>
          <a:xfrm>
            <a:off x="6771243" y="5268338"/>
            <a:ext cx="1079815" cy="0"/>
          </a:xfrm>
          <a:prstGeom prst="line">
            <a:avLst/>
          </a:prstGeom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Gerader Verbinder 28">
            <a:extLst>
              <a:ext uri="{FF2B5EF4-FFF2-40B4-BE49-F238E27FC236}">
                <a16:creationId xmlns:a16="http://schemas.microsoft.com/office/drawing/2014/main" id="{89447A7C-C421-4176-A84F-D1230B5AFA0A}"/>
              </a:ext>
            </a:extLst>
          </p:cNvPr>
          <p:cNvCxnSpPr>
            <a:cxnSpLocks/>
            <a:stCxn id="22" idx="3"/>
            <a:endCxn id="21" idx="1"/>
          </p:cNvCxnSpPr>
          <p:nvPr/>
        </p:nvCxnSpPr>
        <p:spPr>
          <a:xfrm>
            <a:off x="4502372" y="5268338"/>
            <a:ext cx="1079815" cy="0"/>
          </a:xfrm>
          <a:prstGeom prst="line">
            <a:avLst/>
          </a:prstGeom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Rechteck 31">
            <a:extLst>
              <a:ext uri="{FF2B5EF4-FFF2-40B4-BE49-F238E27FC236}">
                <a16:creationId xmlns:a16="http://schemas.microsoft.com/office/drawing/2014/main" id="{C9CCD451-5045-43B1-84BF-523E6E673244}"/>
              </a:ext>
            </a:extLst>
          </p:cNvPr>
          <p:cNvSpPr/>
          <p:nvPr/>
        </p:nvSpPr>
        <p:spPr>
          <a:xfrm>
            <a:off x="3180741" y="2405452"/>
            <a:ext cx="1454205" cy="109218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sz="1400" dirty="0"/>
              <a:t>Plant</a:t>
            </a:r>
          </a:p>
        </p:txBody>
      </p:sp>
      <p:cxnSp>
        <p:nvCxnSpPr>
          <p:cNvPr id="39" name="Gerader Verbinder 38">
            <a:extLst>
              <a:ext uri="{FF2B5EF4-FFF2-40B4-BE49-F238E27FC236}">
                <a16:creationId xmlns:a16="http://schemas.microsoft.com/office/drawing/2014/main" id="{9179EFDF-E87E-41A9-8F82-8C6491327E08}"/>
              </a:ext>
            </a:extLst>
          </p:cNvPr>
          <p:cNvCxnSpPr>
            <a:cxnSpLocks/>
            <a:stCxn id="22" idx="0"/>
            <a:endCxn id="32" idx="2"/>
          </p:cNvCxnSpPr>
          <p:nvPr/>
        </p:nvCxnSpPr>
        <p:spPr>
          <a:xfrm flipV="1">
            <a:off x="3907844" y="3497638"/>
            <a:ext cx="0" cy="1469936"/>
          </a:xfrm>
          <a:prstGeom prst="line">
            <a:avLst/>
          </a:prstGeom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Rechteck 41">
            <a:extLst>
              <a:ext uri="{FF2B5EF4-FFF2-40B4-BE49-F238E27FC236}">
                <a16:creationId xmlns:a16="http://schemas.microsoft.com/office/drawing/2014/main" id="{927CE771-DFA4-4CE3-A728-97631672F446}"/>
              </a:ext>
            </a:extLst>
          </p:cNvPr>
          <p:cNvSpPr/>
          <p:nvPr/>
        </p:nvSpPr>
        <p:spPr>
          <a:xfrm>
            <a:off x="3437839" y="2709734"/>
            <a:ext cx="1029903" cy="46657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34" name="Rechteck 33">
            <a:extLst>
              <a:ext uri="{FF2B5EF4-FFF2-40B4-BE49-F238E27FC236}">
                <a16:creationId xmlns:a16="http://schemas.microsoft.com/office/drawing/2014/main" id="{53C32C22-95AF-4B20-835A-11A62F7CC38D}"/>
              </a:ext>
            </a:extLst>
          </p:cNvPr>
          <p:cNvSpPr/>
          <p:nvPr/>
        </p:nvSpPr>
        <p:spPr>
          <a:xfrm>
            <a:off x="3358907" y="2803700"/>
            <a:ext cx="1029903" cy="46657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/>
              <a:t>Sensors /</a:t>
            </a:r>
            <a:br>
              <a:rPr lang="en-US" sz="1400"/>
            </a:br>
            <a:r>
              <a:rPr lang="en-US" sz="1400"/>
              <a:t>Actuators</a:t>
            </a:r>
            <a:endParaRPr lang="en-US" sz="1400" dirty="0"/>
          </a:p>
        </p:txBody>
      </p:sp>
      <p:sp>
        <p:nvSpPr>
          <p:cNvPr id="43" name="Pfeil: nach links gekrümmt 42">
            <a:extLst>
              <a:ext uri="{FF2B5EF4-FFF2-40B4-BE49-F238E27FC236}">
                <a16:creationId xmlns:a16="http://schemas.microsoft.com/office/drawing/2014/main" id="{7A722566-56E9-4589-B6A8-6B2F5029177D}"/>
              </a:ext>
            </a:extLst>
          </p:cNvPr>
          <p:cNvSpPr/>
          <p:nvPr/>
        </p:nvSpPr>
        <p:spPr>
          <a:xfrm>
            <a:off x="4742565" y="2693583"/>
            <a:ext cx="2289193" cy="665133"/>
          </a:xfrm>
          <a:prstGeom prst="curved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4" name="Textfeld 43">
            <a:extLst>
              <a:ext uri="{FF2B5EF4-FFF2-40B4-BE49-F238E27FC236}">
                <a16:creationId xmlns:a16="http://schemas.microsoft.com/office/drawing/2014/main" id="{F2ED7696-A415-4E6B-A029-12ADECB5C18B}"/>
              </a:ext>
            </a:extLst>
          </p:cNvPr>
          <p:cNvSpPr txBox="1"/>
          <p:nvPr/>
        </p:nvSpPr>
        <p:spPr>
          <a:xfrm>
            <a:off x="5169298" y="2571266"/>
            <a:ext cx="1293428" cy="73866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Control loop closed over network</a:t>
            </a:r>
          </a:p>
        </p:txBody>
      </p:sp>
      <p:sp>
        <p:nvSpPr>
          <p:cNvPr id="47" name="Rechteck 46">
            <a:extLst>
              <a:ext uri="{FF2B5EF4-FFF2-40B4-BE49-F238E27FC236}">
                <a16:creationId xmlns:a16="http://schemas.microsoft.com/office/drawing/2014/main" id="{CF5AA57C-B88D-4709-BCD9-3E3690DE91EF}"/>
              </a:ext>
            </a:extLst>
          </p:cNvPr>
          <p:cNvSpPr/>
          <p:nvPr/>
        </p:nvSpPr>
        <p:spPr>
          <a:xfrm>
            <a:off x="8907455" y="2180806"/>
            <a:ext cx="784998" cy="131683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sz="1200" dirty="0"/>
              <a:t>Further</a:t>
            </a:r>
            <a:br>
              <a:rPr lang="en-US" sz="1200" dirty="0"/>
            </a:br>
            <a:r>
              <a:rPr lang="en-US" sz="1200" dirty="0"/>
              <a:t>VMs</a:t>
            </a:r>
          </a:p>
        </p:txBody>
      </p:sp>
      <p:sp>
        <p:nvSpPr>
          <p:cNvPr id="45" name="Rechteck 44">
            <a:extLst>
              <a:ext uri="{FF2B5EF4-FFF2-40B4-BE49-F238E27FC236}">
                <a16:creationId xmlns:a16="http://schemas.microsoft.com/office/drawing/2014/main" id="{6C0A37F9-85E5-4E86-BEEA-88BD4C8CD648}"/>
              </a:ext>
            </a:extLst>
          </p:cNvPr>
          <p:cNvSpPr/>
          <p:nvPr/>
        </p:nvSpPr>
        <p:spPr>
          <a:xfrm>
            <a:off x="8814099" y="2256702"/>
            <a:ext cx="784998" cy="131683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sz="1200" dirty="0"/>
              <a:t>Further</a:t>
            </a:r>
            <a:br>
              <a:rPr lang="en-US" sz="1200" dirty="0"/>
            </a:br>
            <a:r>
              <a:rPr lang="en-US" sz="1200" dirty="0"/>
              <a:t>VMs</a:t>
            </a:r>
          </a:p>
        </p:txBody>
      </p:sp>
      <p:sp>
        <p:nvSpPr>
          <p:cNvPr id="46" name="Rechteck 45">
            <a:extLst>
              <a:ext uri="{FF2B5EF4-FFF2-40B4-BE49-F238E27FC236}">
                <a16:creationId xmlns:a16="http://schemas.microsoft.com/office/drawing/2014/main" id="{89979F2D-57E6-49DD-B186-C7C1F7AA15CF}"/>
              </a:ext>
            </a:extLst>
          </p:cNvPr>
          <p:cNvSpPr/>
          <p:nvPr/>
        </p:nvSpPr>
        <p:spPr>
          <a:xfrm>
            <a:off x="8814099" y="3231412"/>
            <a:ext cx="784998" cy="344449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cxnSp>
        <p:nvCxnSpPr>
          <p:cNvPr id="48" name="Gerader Verbinder 47">
            <a:extLst>
              <a:ext uri="{FF2B5EF4-FFF2-40B4-BE49-F238E27FC236}">
                <a16:creationId xmlns:a16="http://schemas.microsoft.com/office/drawing/2014/main" id="{1BB6A50B-4C7F-4BAB-89B0-161C744AF8D7}"/>
              </a:ext>
            </a:extLst>
          </p:cNvPr>
          <p:cNvCxnSpPr>
            <a:cxnSpLocks/>
            <a:stCxn id="46" idx="2"/>
          </p:cNvCxnSpPr>
          <p:nvPr/>
        </p:nvCxnSpPr>
        <p:spPr>
          <a:xfrm>
            <a:off x="9206598" y="3575861"/>
            <a:ext cx="0" cy="152141"/>
          </a:xfrm>
          <a:prstGeom prst="line">
            <a:avLst/>
          </a:prstGeom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Rechteck 48">
            <a:extLst>
              <a:ext uri="{FF2B5EF4-FFF2-40B4-BE49-F238E27FC236}">
                <a16:creationId xmlns:a16="http://schemas.microsoft.com/office/drawing/2014/main" id="{3CB25FB5-B1CA-4E42-8E96-3053264A565B}"/>
              </a:ext>
            </a:extLst>
          </p:cNvPr>
          <p:cNvSpPr/>
          <p:nvPr/>
        </p:nvSpPr>
        <p:spPr>
          <a:xfrm>
            <a:off x="9599097" y="3153189"/>
            <a:ext cx="89400" cy="344449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4623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>
            <a:extLst>
              <a:ext uri="{FF2B5EF4-FFF2-40B4-BE49-F238E27FC236}">
                <a16:creationId xmlns:a16="http://schemas.microsoft.com/office/drawing/2014/main" id="{AC082216-E343-498A-8D2E-DE4A27DC0CBF}"/>
              </a:ext>
            </a:extLst>
          </p:cNvPr>
          <p:cNvSpPr/>
          <p:nvPr/>
        </p:nvSpPr>
        <p:spPr>
          <a:xfrm>
            <a:off x="2968500" y="997309"/>
            <a:ext cx="6036562" cy="4426284"/>
          </a:xfrm>
          <a:prstGeom prst="rect">
            <a:avLst/>
          </a:prstGeom>
          <a:solidFill>
            <a:srgbClr val="7DC6EA">
              <a:lumMod val="5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b" anchorCtr="0"/>
          <a:lstStyle/>
          <a:p>
            <a:pPr marL="0" marR="0" lvl="0" indent="0" defTabSz="713232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600" kern="0">
                <a:solidFill>
                  <a:prstClr val="white"/>
                </a:solidFill>
                <a:latin typeface="Arial"/>
              </a:rPr>
              <a:t>Physical Host</a:t>
            </a:r>
            <a:endParaRPr kumimoji="0" lang="en-US" sz="1600" b="0" i="0" u="none" strike="noStrike" kern="0" cap="none" spc="0" normalizeH="0" baseline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D418C7C9-D790-4844-80F8-E22A22623E93}"/>
              </a:ext>
            </a:extLst>
          </p:cNvPr>
          <p:cNvSpPr/>
          <p:nvPr/>
        </p:nvSpPr>
        <p:spPr>
          <a:xfrm>
            <a:off x="3085630" y="1175110"/>
            <a:ext cx="2121770" cy="1847851"/>
          </a:xfrm>
          <a:prstGeom prst="rect">
            <a:avLst/>
          </a:prstGeom>
          <a:solidFill>
            <a:srgbClr val="00BEF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t" anchorCtr="0"/>
          <a:lstStyle/>
          <a:p>
            <a:pPr marL="0" marR="0" lvl="0" indent="0" algn="ctr" defTabSz="713232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Namespace </a:t>
            </a:r>
            <a:br>
              <a:rPr kumimoji="0" lang="en-US" sz="1600" b="0" i="0" u="none" strike="noStrike" kern="0" cap="none" spc="0" normalizeH="0" baseline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</a:br>
            <a:r>
              <a:rPr lang="en-US" sz="1600" i="1" kern="0">
                <a:solidFill>
                  <a:prstClr val="white"/>
                </a:solidFill>
                <a:latin typeface="Arial"/>
              </a:rPr>
              <a:t>talker</a:t>
            </a:r>
            <a:endParaRPr kumimoji="0" lang="en-US" sz="1600" b="0" i="1" u="none" strike="noStrike" kern="0" cap="none" spc="0" normalizeH="0" baseline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18BB1D5F-1B67-47E3-A9C9-831CD0EDB47C}"/>
              </a:ext>
            </a:extLst>
          </p:cNvPr>
          <p:cNvSpPr txBox="1"/>
          <p:nvPr/>
        </p:nvSpPr>
        <p:spPr>
          <a:xfrm>
            <a:off x="3576737" y="1838685"/>
            <a:ext cx="1136650" cy="755650"/>
          </a:xfrm>
          <a:prstGeom prst="rect">
            <a:avLst/>
          </a:prstGeom>
          <a:solidFill>
            <a:srgbClr val="00BEFF">
              <a:lumMod val="20000"/>
              <a:lumOff val="80000"/>
            </a:srgbClr>
          </a:solidFill>
        </p:spPr>
        <p:txBody>
          <a:bodyPr wrap="square" lIns="0" tIns="0" rIns="0" bIns="0" rtlCol="0" anchor="ctr" anchorCtr="0">
            <a:noAutofit/>
          </a:bodyPr>
          <a:lstStyle/>
          <a:p>
            <a:pPr marL="0" marR="0" lvl="0" indent="0" algn="ctr" defTabSz="713232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BEFF"/>
              </a:buClr>
              <a:buSzTx/>
              <a:buFontTx/>
              <a:buNone/>
              <a:tabLst/>
              <a:defRPr/>
            </a:pPr>
            <a:r>
              <a:rPr lang="en-US" sz="1600" kern="0">
                <a:solidFill>
                  <a:srgbClr val="3E444C"/>
                </a:solidFill>
                <a:latin typeface="Arial"/>
              </a:rPr>
              <a:t>Talker </a:t>
            </a:r>
            <a:br>
              <a:rPr lang="en-US" sz="1600" kern="0">
                <a:solidFill>
                  <a:srgbClr val="3E444C"/>
                </a:solidFill>
                <a:latin typeface="Arial"/>
              </a:rPr>
            </a:br>
            <a:r>
              <a:rPr lang="en-US" sz="1600" kern="0">
                <a:solidFill>
                  <a:srgbClr val="3E444C"/>
                </a:solidFill>
                <a:latin typeface="Arial"/>
              </a:rPr>
              <a:t>App</a:t>
            </a:r>
            <a:endParaRPr kumimoji="0" lang="en-US" sz="1600" b="0" i="0" u="none" strike="noStrike" kern="0" cap="none" spc="0" normalizeH="0" baseline="0">
              <a:ln>
                <a:noFill/>
              </a:ln>
              <a:solidFill>
                <a:srgbClr val="3E444C"/>
              </a:solidFill>
              <a:effectLst/>
              <a:uLnTx/>
              <a:uFillTx/>
              <a:latin typeface="Arial"/>
            </a:endParaRPr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DAA4443E-FCFB-47D6-A4AB-67A0BDF73FA2}"/>
              </a:ext>
            </a:extLst>
          </p:cNvPr>
          <p:cNvSpPr/>
          <p:nvPr/>
        </p:nvSpPr>
        <p:spPr>
          <a:xfrm>
            <a:off x="3085631" y="3281952"/>
            <a:ext cx="2121769" cy="336550"/>
          </a:xfrm>
          <a:prstGeom prst="rect">
            <a:avLst/>
          </a:prstGeom>
          <a:solidFill>
            <a:srgbClr val="00B050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713232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veth-talker-a </a:t>
            </a: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4F5F3C1B-E26F-41DD-A79D-E34F63352881}"/>
              </a:ext>
            </a:extLst>
          </p:cNvPr>
          <p:cNvSpPr/>
          <p:nvPr/>
        </p:nvSpPr>
        <p:spPr>
          <a:xfrm>
            <a:off x="3052683" y="4110603"/>
            <a:ext cx="5849215" cy="893892"/>
          </a:xfrm>
          <a:prstGeom prst="rect">
            <a:avLst/>
          </a:prstGeom>
          <a:solidFill>
            <a:srgbClr val="92D050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713232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600" kern="0">
                <a:solidFill>
                  <a:prstClr val="white"/>
                </a:solidFill>
                <a:latin typeface="Arial"/>
              </a:rPr>
              <a:t>v</a:t>
            </a:r>
            <a:r>
              <a:rPr kumimoji="0" lang="en-US" sz="1600" b="0" i="0" u="none" strike="noStrike" kern="0" cap="none" spc="0" normalizeH="0" baseline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bridge</a:t>
            </a: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A0D308CC-0EFF-4B36-84BF-0B630530DA03}"/>
              </a:ext>
            </a:extLst>
          </p:cNvPr>
          <p:cNvSpPr/>
          <p:nvPr/>
        </p:nvSpPr>
        <p:spPr>
          <a:xfrm>
            <a:off x="3112268" y="3945504"/>
            <a:ext cx="2070371" cy="336550"/>
          </a:xfrm>
          <a:prstGeom prst="rect">
            <a:avLst/>
          </a:prstGeom>
          <a:solidFill>
            <a:srgbClr val="00B050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713232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veth-talker-b</a:t>
            </a:r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F91C06BA-56BC-491B-B93C-F1868DF0E6AB}"/>
              </a:ext>
            </a:extLst>
          </p:cNvPr>
          <p:cNvSpPr/>
          <p:nvPr/>
        </p:nvSpPr>
        <p:spPr>
          <a:xfrm>
            <a:off x="3085631" y="2832627"/>
            <a:ext cx="2121769" cy="336550"/>
          </a:xfrm>
          <a:prstGeom prst="rect">
            <a:avLst/>
          </a:prstGeom>
          <a:solidFill>
            <a:srgbClr val="00B050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713232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veth-talker-a.100 </a:t>
            </a:r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486B2E3D-57DD-42F9-9612-344A84AFD7F1}"/>
              </a:ext>
            </a:extLst>
          </p:cNvPr>
          <p:cNvSpPr/>
          <p:nvPr/>
        </p:nvSpPr>
        <p:spPr>
          <a:xfrm>
            <a:off x="6725258" y="1175110"/>
            <a:ext cx="2108200" cy="1847851"/>
          </a:xfrm>
          <a:prstGeom prst="rect">
            <a:avLst/>
          </a:prstGeom>
          <a:solidFill>
            <a:srgbClr val="00BEF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t" anchorCtr="0"/>
          <a:lstStyle/>
          <a:p>
            <a:pPr marL="0" marR="0" lvl="0" indent="0" algn="ctr" defTabSz="713232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Namespace </a:t>
            </a:r>
            <a:br>
              <a:rPr kumimoji="0" lang="en-US" sz="1600" b="0" i="0" u="none" strike="noStrike" kern="0" cap="none" spc="0" normalizeH="0" baseline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</a:br>
            <a:r>
              <a:rPr kumimoji="0" lang="en-US" sz="1600" b="0" i="1" u="none" strike="noStrike" kern="0" cap="none" spc="0" normalizeH="0" baseline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listener</a:t>
            </a:r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D58507BC-6FCC-4C57-9096-F1331A1FD8C6}"/>
              </a:ext>
            </a:extLst>
          </p:cNvPr>
          <p:cNvSpPr txBox="1"/>
          <p:nvPr/>
        </p:nvSpPr>
        <p:spPr>
          <a:xfrm>
            <a:off x="7211033" y="1838685"/>
            <a:ext cx="1136650" cy="755650"/>
          </a:xfrm>
          <a:prstGeom prst="rect">
            <a:avLst/>
          </a:prstGeom>
          <a:solidFill>
            <a:srgbClr val="00BEFF">
              <a:lumMod val="20000"/>
              <a:lumOff val="80000"/>
            </a:srgbClr>
          </a:solidFill>
        </p:spPr>
        <p:txBody>
          <a:bodyPr wrap="square" lIns="0" tIns="0" rIns="0" bIns="0" rtlCol="0" anchor="ctr" anchorCtr="0">
            <a:noAutofit/>
          </a:bodyPr>
          <a:lstStyle/>
          <a:p>
            <a:pPr marL="0" marR="0" lvl="0" indent="0" algn="ctr" defTabSz="713232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BEFF"/>
              </a:buClr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>
                <a:ln>
                  <a:noFill/>
                </a:ln>
                <a:solidFill>
                  <a:srgbClr val="3E444C"/>
                </a:solidFill>
                <a:effectLst/>
                <a:uLnTx/>
                <a:uFillTx/>
                <a:latin typeface="Arial"/>
              </a:rPr>
              <a:t>Listener App</a:t>
            </a:r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906122B6-A244-4B0C-B656-D8E79A240D24}"/>
              </a:ext>
            </a:extLst>
          </p:cNvPr>
          <p:cNvSpPr/>
          <p:nvPr/>
        </p:nvSpPr>
        <p:spPr>
          <a:xfrm>
            <a:off x="6731608" y="3281952"/>
            <a:ext cx="2095500" cy="336550"/>
          </a:xfrm>
          <a:prstGeom prst="rect">
            <a:avLst/>
          </a:prstGeom>
          <a:solidFill>
            <a:srgbClr val="00B050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713232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veth-listener-a </a:t>
            </a:r>
          </a:p>
        </p:txBody>
      </p:sp>
      <p:sp>
        <p:nvSpPr>
          <p:cNvPr id="14" name="Rechteck 13">
            <a:extLst>
              <a:ext uri="{FF2B5EF4-FFF2-40B4-BE49-F238E27FC236}">
                <a16:creationId xmlns:a16="http://schemas.microsoft.com/office/drawing/2014/main" id="{944A16F3-14EA-4AEA-A407-01743519148E}"/>
              </a:ext>
            </a:extLst>
          </p:cNvPr>
          <p:cNvSpPr/>
          <p:nvPr/>
        </p:nvSpPr>
        <p:spPr>
          <a:xfrm>
            <a:off x="6740562" y="3945504"/>
            <a:ext cx="2070371" cy="336550"/>
          </a:xfrm>
          <a:prstGeom prst="rect">
            <a:avLst/>
          </a:prstGeom>
          <a:solidFill>
            <a:srgbClr val="00B050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713232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veth-listener-b</a:t>
            </a:r>
          </a:p>
        </p:txBody>
      </p:sp>
      <p:sp>
        <p:nvSpPr>
          <p:cNvPr id="16" name="Rechteck 15">
            <a:extLst>
              <a:ext uri="{FF2B5EF4-FFF2-40B4-BE49-F238E27FC236}">
                <a16:creationId xmlns:a16="http://schemas.microsoft.com/office/drawing/2014/main" id="{B491215D-FC6A-4300-8ABE-A98CA4836A6B}"/>
              </a:ext>
            </a:extLst>
          </p:cNvPr>
          <p:cNvSpPr/>
          <p:nvPr/>
        </p:nvSpPr>
        <p:spPr>
          <a:xfrm>
            <a:off x="6718038" y="2832627"/>
            <a:ext cx="2115419" cy="336550"/>
          </a:xfrm>
          <a:prstGeom prst="rect">
            <a:avLst/>
          </a:prstGeom>
          <a:solidFill>
            <a:srgbClr val="00B050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713232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veth-listener-a.100 </a:t>
            </a:r>
          </a:p>
        </p:txBody>
      </p:sp>
      <p:sp>
        <p:nvSpPr>
          <p:cNvPr id="18" name="Rechteck 17">
            <a:extLst>
              <a:ext uri="{FF2B5EF4-FFF2-40B4-BE49-F238E27FC236}">
                <a16:creationId xmlns:a16="http://schemas.microsoft.com/office/drawing/2014/main" id="{2177AC63-DA44-41DA-A293-18B12856154B}"/>
              </a:ext>
            </a:extLst>
          </p:cNvPr>
          <p:cNvSpPr/>
          <p:nvPr/>
        </p:nvSpPr>
        <p:spPr>
          <a:xfrm>
            <a:off x="6740562" y="4505525"/>
            <a:ext cx="2070371" cy="366822"/>
          </a:xfrm>
          <a:prstGeom prst="rect">
            <a:avLst/>
          </a:prstGeom>
          <a:solidFill>
            <a:srgbClr val="00B050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713232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TAPRIO QDisc</a:t>
            </a:r>
          </a:p>
        </p:txBody>
      </p:sp>
      <p:cxnSp>
        <p:nvCxnSpPr>
          <p:cNvPr id="19" name="Gerade Verbindung mit Pfeil 18">
            <a:extLst>
              <a:ext uri="{FF2B5EF4-FFF2-40B4-BE49-F238E27FC236}">
                <a16:creationId xmlns:a16="http://schemas.microsoft.com/office/drawing/2014/main" id="{0CAEC87A-BA76-4D50-9C77-368F3BCEA4FC}"/>
              </a:ext>
            </a:extLst>
          </p:cNvPr>
          <p:cNvCxnSpPr>
            <a:cxnSpLocks/>
            <a:stCxn id="18" idx="0"/>
            <a:endCxn id="14" idx="2"/>
          </p:cNvCxnSpPr>
          <p:nvPr/>
        </p:nvCxnSpPr>
        <p:spPr>
          <a:xfrm flipV="1">
            <a:off x="7775748" y="4282054"/>
            <a:ext cx="0" cy="22347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hteck 19">
            <a:extLst>
              <a:ext uri="{FF2B5EF4-FFF2-40B4-BE49-F238E27FC236}">
                <a16:creationId xmlns:a16="http://schemas.microsoft.com/office/drawing/2014/main" id="{A06C6BCA-FF23-4F12-B1D9-B264EB176E3D}"/>
              </a:ext>
            </a:extLst>
          </p:cNvPr>
          <p:cNvSpPr/>
          <p:nvPr/>
        </p:nvSpPr>
        <p:spPr>
          <a:xfrm>
            <a:off x="3112268" y="4497753"/>
            <a:ext cx="2070371" cy="366822"/>
          </a:xfrm>
          <a:prstGeom prst="rect">
            <a:avLst/>
          </a:prstGeom>
          <a:solidFill>
            <a:srgbClr val="00B050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713232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skbedit filter</a:t>
            </a:r>
          </a:p>
        </p:txBody>
      </p:sp>
      <p:cxnSp>
        <p:nvCxnSpPr>
          <p:cNvPr id="21" name="Gerade Verbindung mit Pfeil 20">
            <a:extLst>
              <a:ext uri="{FF2B5EF4-FFF2-40B4-BE49-F238E27FC236}">
                <a16:creationId xmlns:a16="http://schemas.microsoft.com/office/drawing/2014/main" id="{540E4CC1-ADA4-47AA-9BB4-59BCA703ED0E}"/>
              </a:ext>
            </a:extLst>
          </p:cNvPr>
          <p:cNvCxnSpPr>
            <a:stCxn id="7" idx="2"/>
            <a:endCxn id="20" idx="0"/>
          </p:cNvCxnSpPr>
          <p:nvPr/>
        </p:nvCxnSpPr>
        <p:spPr>
          <a:xfrm>
            <a:off x="4147454" y="4282054"/>
            <a:ext cx="0" cy="215699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echteck 21">
            <a:extLst>
              <a:ext uri="{FF2B5EF4-FFF2-40B4-BE49-F238E27FC236}">
                <a16:creationId xmlns:a16="http://schemas.microsoft.com/office/drawing/2014/main" id="{CE3B8DC6-FF54-4444-8F16-AF556C74F7BD}"/>
              </a:ext>
            </a:extLst>
          </p:cNvPr>
          <p:cNvSpPr/>
          <p:nvPr/>
        </p:nvSpPr>
        <p:spPr>
          <a:xfrm>
            <a:off x="4943357" y="5325335"/>
            <a:ext cx="2070371" cy="336550"/>
          </a:xfrm>
          <a:prstGeom prst="rect">
            <a:avLst/>
          </a:prstGeom>
          <a:solidFill>
            <a:srgbClr val="00B050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713232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enp2s0f0</a:t>
            </a:r>
          </a:p>
        </p:txBody>
      </p:sp>
      <p:cxnSp>
        <p:nvCxnSpPr>
          <p:cNvPr id="23" name="Gerader Verbinder 22">
            <a:extLst>
              <a:ext uri="{FF2B5EF4-FFF2-40B4-BE49-F238E27FC236}">
                <a16:creationId xmlns:a16="http://schemas.microsoft.com/office/drawing/2014/main" id="{E4EEE59E-31C7-40FD-A5C4-89C3B048E088}"/>
              </a:ext>
            </a:extLst>
          </p:cNvPr>
          <p:cNvCxnSpPr>
            <a:cxnSpLocks/>
            <a:stCxn id="16" idx="2"/>
            <a:endCxn id="13" idx="0"/>
          </p:cNvCxnSpPr>
          <p:nvPr/>
        </p:nvCxnSpPr>
        <p:spPr>
          <a:xfrm>
            <a:off x="7775748" y="3169177"/>
            <a:ext cx="3610" cy="112775"/>
          </a:xfrm>
          <a:prstGeom prst="line">
            <a:avLst/>
          </a:prstGeom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Gerader Verbinder 25">
            <a:extLst>
              <a:ext uri="{FF2B5EF4-FFF2-40B4-BE49-F238E27FC236}">
                <a16:creationId xmlns:a16="http://schemas.microsoft.com/office/drawing/2014/main" id="{53A05E34-6268-415E-AF9E-462BA2C3623D}"/>
              </a:ext>
            </a:extLst>
          </p:cNvPr>
          <p:cNvCxnSpPr>
            <a:cxnSpLocks/>
            <a:stCxn id="9" idx="2"/>
            <a:endCxn id="5" idx="0"/>
          </p:cNvCxnSpPr>
          <p:nvPr/>
        </p:nvCxnSpPr>
        <p:spPr>
          <a:xfrm>
            <a:off x="4146516" y="3169177"/>
            <a:ext cx="0" cy="112775"/>
          </a:xfrm>
          <a:prstGeom prst="line">
            <a:avLst/>
          </a:prstGeom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Gerader Verbinder 28">
            <a:extLst>
              <a:ext uri="{FF2B5EF4-FFF2-40B4-BE49-F238E27FC236}">
                <a16:creationId xmlns:a16="http://schemas.microsoft.com/office/drawing/2014/main" id="{A33350E4-D95E-49C4-90B6-83DE84471FF0}"/>
              </a:ext>
            </a:extLst>
          </p:cNvPr>
          <p:cNvCxnSpPr>
            <a:cxnSpLocks/>
            <a:stCxn id="22" idx="0"/>
            <a:endCxn id="6" idx="2"/>
          </p:cNvCxnSpPr>
          <p:nvPr/>
        </p:nvCxnSpPr>
        <p:spPr>
          <a:xfrm flipH="1" flipV="1">
            <a:off x="5977291" y="5004495"/>
            <a:ext cx="1252" cy="320840"/>
          </a:xfrm>
          <a:prstGeom prst="line">
            <a:avLst/>
          </a:prstGeom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Gerader Verbinder 31">
            <a:extLst>
              <a:ext uri="{FF2B5EF4-FFF2-40B4-BE49-F238E27FC236}">
                <a16:creationId xmlns:a16="http://schemas.microsoft.com/office/drawing/2014/main" id="{6C3D8E77-5750-471D-A209-4417344D0196}"/>
              </a:ext>
            </a:extLst>
          </p:cNvPr>
          <p:cNvCxnSpPr>
            <a:cxnSpLocks/>
            <a:stCxn id="5" idx="2"/>
            <a:endCxn id="7" idx="0"/>
          </p:cNvCxnSpPr>
          <p:nvPr/>
        </p:nvCxnSpPr>
        <p:spPr>
          <a:xfrm>
            <a:off x="4146516" y="3618502"/>
            <a:ext cx="938" cy="327002"/>
          </a:xfrm>
          <a:prstGeom prst="line">
            <a:avLst/>
          </a:prstGeom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Gerader Verbinder 41">
            <a:extLst>
              <a:ext uri="{FF2B5EF4-FFF2-40B4-BE49-F238E27FC236}">
                <a16:creationId xmlns:a16="http://schemas.microsoft.com/office/drawing/2014/main" id="{3ECD51C1-71B4-465A-BCF0-3068F733A6E3}"/>
              </a:ext>
            </a:extLst>
          </p:cNvPr>
          <p:cNvCxnSpPr>
            <a:cxnSpLocks/>
            <a:endCxn id="14" idx="0"/>
          </p:cNvCxnSpPr>
          <p:nvPr/>
        </p:nvCxnSpPr>
        <p:spPr>
          <a:xfrm>
            <a:off x="7775748" y="3618502"/>
            <a:ext cx="0" cy="327002"/>
          </a:xfrm>
          <a:prstGeom prst="line">
            <a:avLst/>
          </a:prstGeom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Gerader Verbinder 44">
            <a:extLst>
              <a:ext uri="{FF2B5EF4-FFF2-40B4-BE49-F238E27FC236}">
                <a16:creationId xmlns:a16="http://schemas.microsoft.com/office/drawing/2014/main" id="{7C8F49D5-19E2-488C-94ED-0A03FC8CB727}"/>
              </a:ext>
            </a:extLst>
          </p:cNvPr>
          <p:cNvCxnSpPr>
            <a:cxnSpLocks/>
            <a:stCxn id="54" idx="0"/>
            <a:endCxn id="22" idx="2"/>
          </p:cNvCxnSpPr>
          <p:nvPr/>
        </p:nvCxnSpPr>
        <p:spPr>
          <a:xfrm flipV="1">
            <a:off x="5973576" y="5661885"/>
            <a:ext cx="4967" cy="425283"/>
          </a:xfrm>
          <a:prstGeom prst="line">
            <a:avLst/>
          </a:prstGeom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Gerade Verbindung mit Pfeil 47">
            <a:extLst>
              <a:ext uri="{FF2B5EF4-FFF2-40B4-BE49-F238E27FC236}">
                <a16:creationId xmlns:a16="http://schemas.microsoft.com/office/drawing/2014/main" id="{E89D55A8-AC02-49AC-BDAD-0D25CA397BA3}"/>
              </a:ext>
            </a:extLst>
          </p:cNvPr>
          <p:cNvCxnSpPr>
            <a:cxnSpLocks/>
            <a:stCxn id="4" idx="2"/>
            <a:endCxn id="9" idx="0"/>
          </p:cNvCxnSpPr>
          <p:nvPr/>
        </p:nvCxnSpPr>
        <p:spPr>
          <a:xfrm>
            <a:off x="4145062" y="2594335"/>
            <a:ext cx="1454" cy="238292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Gerade Verbindung mit Pfeil 50">
            <a:extLst>
              <a:ext uri="{FF2B5EF4-FFF2-40B4-BE49-F238E27FC236}">
                <a16:creationId xmlns:a16="http://schemas.microsoft.com/office/drawing/2014/main" id="{5F2660A3-C7BF-4623-9AD4-CA38E6F2DF85}"/>
              </a:ext>
            </a:extLst>
          </p:cNvPr>
          <p:cNvCxnSpPr>
            <a:cxnSpLocks/>
            <a:endCxn id="12" idx="2"/>
          </p:cNvCxnSpPr>
          <p:nvPr/>
        </p:nvCxnSpPr>
        <p:spPr>
          <a:xfrm flipV="1">
            <a:off x="7775748" y="2594335"/>
            <a:ext cx="3610" cy="238292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Textfeld 53">
            <a:extLst>
              <a:ext uri="{FF2B5EF4-FFF2-40B4-BE49-F238E27FC236}">
                <a16:creationId xmlns:a16="http://schemas.microsoft.com/office/drawing/2014/main" id="{170BAACF-DAB5-4B11-B803-178FC7C673A6}"/>
              </a:ext>
            </a:extLst>
          </p:cNvPr>
          <p:cNvSpPr txBox="1"/>
          <p:nvPr/>
        </p:nvSpPr>
        <p:spPr>
          <a:xfrm>
            <a:off x="4687326" y="6087168"/>
            <a:ext cx="2572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to/from physical network</a:t>
            </a:r>
          </a:p>
        </p:txBody>
      </p:sp>
    </p:spTree>
    <p:extLst>
      <p:ext uri="{BB962C8B-B14F-4D97-AF65-F5344CB8AC3E}">
        <p14:creationId xmlns:p14="http://schemas.microsoft.com/office/powerpoint/2010/main" val="7506516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79</Words>
  <Application>Microsoft Office PowerPoint</Application>
  <PresentationFormat>Breitbild</PresentationFormat>
  <Paragraphs>30</Paragraphs>
  <Slides>2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</vt:lpstr>
      <vt:lpstr>PowerPoint-Präsentation</vt:lpstr>
      <vt:lpstr>PowerPoint-Präsentation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Frank</dc:creator>
  <cp:lastModifiedBy>Frank</cp:lastModifiedBy>
  <cp:revision>8</cp:revision>
  <dcterms:created xsi:type="dcterms:W3CDTF">2024-11-04T10:53:30Z</dcterms:created>
  <dcterms:modified xsi:type="dcterms:W3CDTF">2024-11-04T13:08:10Z</dcterms:modified>
</cp:coreProperties>
</file>